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8" r:id="rId7"/>
    <p:sldId id="26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8288000" cy="10287000"/>
  <p:notesSz cx="6858000" cy="9144000"/>
  <p:embeddedFontLst>
    <p:embeddedFont>
      <p:font typeface="Anton" pitchFamily="2" charset="0"/>
      <p:regular r:id="rId17"/>
    </p:embeddedFont>
    <p:embeddedFont>
      <p:font typeface="Canva Sans Bold" panose="020B0604020202020204" charset="0"/>
      <p:regular r:id="rId18"/>
    </p:embeddedFont>
    <p:embeddedFont>
      <p:font typeface="Helios" panose="020B0604020202020204" charset="0"/>
      <p:regular r:id="rId19"/>
    </p:embeddedFont>
    <p:embeddedFont>
      <p:font typeface="Helios Bold" panose="020B0604020202020204" charset="0"/>
      <p:regular r:id="rId20"/>
    </p:embeddedFont>
    <p:embeddedFont>
      <p:font typeface="Klein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9731" y="-1636489"/>
            <a:ext cx="6858000" cy="6142835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700" y="992984"/>
            <a:ext cx="4702618" cy="883890"/>
            <a:chOff x="0" y="0"/>
            <a:chExt cx="6270157" cy="1178520"/>
          </a:xfrm>
        </p:grpSpPr>
        <p:sp>
          <p:nvSpPr>
            <p:cNvPr id="4" name="Freeform 4"/>
            <p:cNvSpPr/>
            <p:nvPr/>
          </p:nvSpPr>
          <p:spPr>
            <a:xfrm>
              <a:off x="0" y="177137"/>
              <a:ext cx="785282" cy="824246"/>
            </a:xfrm>
            <a:custGeom>
              <a:avLst/>
              <a:gdLst/>
              <a:ahLst/>
              <a:cxnLst/>
              <a:rect l="l" t="t" r="r" b="b"/>
              <a:pathLst>
                <a:path w="785282" h="824246">
                  <a:moveTo>
                    <a:pt x="0" y="0"/>
                  </a:moveTo>
                  <a:lnTo>
                    <a:pt x="785282" y="0"/>
                  </a:lnTo>
                  <a:lnTo>
                    <a:pt x="785282" y="824246"/>
                  </a:lnTo>
                  <a:lnTo>
                    <a:pt x="0" y="824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1119714" y="-66675"/>
              <a:ext cx="5150443" cy="1245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1"/>
                </a:lnSpc>
                <a:spcBef>
                  <a:spcPct val="0"/>
                </a:spcBef>
              </a:pPr>
              <a:r>
                <a:rPr lang="en-US" sz="2701">
                  <a:solidFill>
                    <a:srgbClr val="F4F4F4"/>
                  </a:solidFill>
                  <a:latin typeface="Helios"/>
                  <a:ea typeface="Helios"/>
                  <a:cs typeface="Helios"/>
                  <a:sym typeface="Helios"/>
                </a:rPr>
                <a:t>PROJECT ID: PRJ_IT_5_2026_26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-1600200" y="5778087"/>
            <a:ext cx="3712000" cy="3147951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3708" y="7962900"/>
            <a:ext cx="4591122" cy="3874886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745792" y="3161087"/>
            <a:ext cx="8115300" cy="2564086"/>
            <a:chOff x="0" y="0"/>
            <a:chExt cx="10820400" cy="3418782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10820400" cy="2425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99"/>
                </a:lnSpc>
              </a:pPr>
              <a:r>
                <a:rPr lang="en-US" sz="11999" b="1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ExpiryIQ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711180"/>
              <a:ext cx="10498974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AI-Powered Smart Family Life Assistant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3773114"/>
            <a:ext cx="18288000" cy="6513886"/>
            <a:chOff x="0" y="0"/>
            <a:chExt cx="4816593" cy="17155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715591"/>
            </a:xfrm>
            <a:custGeom>
              <a:avLst/>
              <a:gdLst/>
              <a:ahLst/>
              <a:cxnLst/>
              <a:rect l="l" t="t" r="r" b="b"/>
              <a:pathLst>
                <a:path w="4816592" h="1715591">
                  <a:moveTo>
                    <a:pt x="0" y="0"/>
                  </a:moveTo>
                  <a:lnTo>
                    <a:pt x="4816592" y="0"/>
                  </a:lnTo>
                  <a:lnTo>
                    <a:pt x="4816592" y="1715591"/>
                  </a:lnTo>
                  <a:lnTo>
                    <a:pt x="0" y="17155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1782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480956"/>
              </p:ext>
            </p:extLst>
          </p:nvPr>
        </p:nvGraphicFramePr>
        <p:xfrm>
          <a:off x="1028700" y="4551711"/>
          <a:ext cx="7304503" cy="4476633"/>
        </p:xfrm>
        <a:graphic>
          <a:graphicData uri="http://schemas.openxmlformats.org/drawingml/2006/table">
            <a:tbl>
              <a:tblPr/>
              <a:tblGrid>
                <a:gridCol w="5949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0162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Quick Recap: What ExpiryIQ Is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3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5859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Progress Since Last Review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4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475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dirty="0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Notification System (In-App + Browser Push) and OCR scanning</a:t>
                      </a:r>
                      <a:endParaRPr lang="en-US" sz="1100" dirty="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5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5859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Authentication &amp; OTP Security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dirty="0">
                          <a:solidFill>
                            <a:srgbClr val="718BAB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7</a:t>
                      </a:r>
                      <a:endParaRPr lang="en-US" sz="1100" dirty="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9704005" y="4551711"/>
          <a:ext cx="7424057" cy="4197384"/>
        </p:xfrm>
        <a:graphic>
          <a:graphicData uri="http://schemas.openxmlformats.org/drawingml/2006/table">
            <a:tbl>
              <a:tblPr/>
              <a:tblGrid>
                <a:gridCol w="586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1029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Technology Used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718BAB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8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2441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Challenges Faced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9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147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Current Status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10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2441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dirty="0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Next Steps</a:t>
                      </a:r>
                      <a:endParaRPr lang="en-US" sz="1100" dirty="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dirty="0">
                          <a:solidFill>
                            <a:srgbClr val="718BAB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11</a:t>
                      </a:r>
                      <a:endParaRPr lang="en-US" sz="1100" dirty="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4639504" y="1391465"/>
            <a:ext cx="9008992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b="1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Agenda</a:t>
            </a:r>
          </a:p>
        </p:txBody>
      </p:sp>
      <p:sp>
        <p:nvSpPr>
          <p:cNvPr id="10" name="Freeform 10"/>
          <p:cNvSpPr/>
          <p:nvPr/>
        </p:nvSpPr>
        <p:spPr>
          <a:xfrm>
            <a:off x="8333203" y="-1109791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333203" y="9806942"/>
            <a:ext cx="1493399" cy="1493399"/>
          </a:xfrm>
          <a:custGeom>
            <a:avLst/>
            <a:gdLst/>
            <a:ahLst/>
            <a:cxnLst/>
            <a:rect l="l" t="t" r="r" b="b"/>
            <a:pathLst>
              <a:path w="1493399" h="1493399">
                <a:moveTo>
                  <a:pt x="0" y="0"/>
                </a:moveTo>
                <a:lnTo>
                  <a:pt x="1493400" y="0"/>
                </a:lnTo>
                <a:lnTo>
                  <a:pt x="1493400" y="1493399"/>
                </a:lnTo>
                <a:lnTo>
                  <a:pt x="0" y="149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786584" y="2115397"/>
            <a:ext cx="6312798" cy="6524094"/>
            <a:chOff x="0" y="0"/>
            <a:chExt cx="6362700" cy="6575666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6350012" cy="6562979"/>
            </a:xfrm>
            <a:custGeom>
              <a:avLst/>
              <a:gdLst/>
              <a:ahLst/>
              <a:cxnLst/>
              <a:rect l="l" t="t" r="r" b="b"/>
              <a:pathLst>
                <a:path w="6350012" h="6562979">
                  <a:moveTo>
                    <a:pt x="6350000" y="5480583"/>
                  </a:moveTo>
                  <a:cubicBezTo>
                    <a:pt x="6350000" y="6078372"/>
                    <a:pt x="5865419" y="6562979"/>
                    <a:pt x="5267617" y="6562979"/>
                  </a:cubicBezTo>
                  <a:lnTo>
                    <a:pt x="1082383" y="6562979"/>
                  </a:lnTo>
                  <a:cubicBezTo>
                    <a:pt x="484594" y="6562979"/>
                    <a:pt x="0" y="6078385"/>
                    <a:pt x="0" y="5480583"/>
                  </a:cubicBezTo>
                  <a:lnTo>
                    <a:pt x="0" y="1082383"/>
                  </a:lnTo>
                  <a:cubicBezTo>
                    <a:pt x="0" y="484594"/>
                    <a:pt x="484581" y="0"/>
                    <a:pt x="1082383" y="0"/>
                  </a:cubicBezTo>
                  <a:lnTo>
                    <a:pt x="5267630" y="0"/>
                  </a:lnTo>
                  <a:cubicBezTo>
                    <a:pt x="5865419" y="0"/>
                    <a:pt x="6350012" y="484594"/>
                    <a:pt x="6350012" y="1082383"/>
                  </a:cubicBezTo>
                  <a:lnTo>
                    <a:pt x="6350012" y="5480583"/>
                  </a:lnTo>
                  <a:close/>
                </a:path>
              </a:pathLst>
            </a:custGeom>
            <a:blipFill>
              <a:blip r:embed="rId2"/>
              <a:stretch>
                <a:fillRect l="-1676" r="-167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35117" y="217588"/>
            <a:ext cx="11351466" cy="221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7"/>
              </a:lnSpc>
            </a:pPr>
            <a:r>
              <a:rPr lang="en-US" sz="7344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Quick Recap</a:t>
            </a:r>
          </a:p>
          <a:p>
            <a:pPr algn="just">
              <a:lnSpc>
                <a:spcPts val="3955"/>
              </a:lnSpc>
            </a:pPr>
            <a:r>
              <a:rPr lang="en-US" sz="3042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Indian households manage dozens of recurring, time-critical responsibilities with no unified system.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4448" y="2839212"/>
            <a:ext cx="10711851" cy="557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45"/>
              </a:lnSpc>
            </a:pPr>
            <a:r>
              <a:rPr lang="en-US" sz="3961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ExpiryIQ is a unified, AI-powered platform that helps Indian families track and get reminded about everything with an expiry or due date — medicines, documents, insurance, bills, groceries, appliances, and family events — all in one dashboard.</a:t>
            </a:r>
          </a:p>
          <a:p>
            <a:pPr algn="just">
              <a:lnSpc>
                <a:spcPts val="5545"/>
              </a:lnSpc>
            </a:pPr>
            <a:endParaRPr lang="en-US" sz="3961">
              <a:solidFill>
                <a:srgbClr val="2A2E3A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just">
              <a:lnSpc>
                <a:spcPts val="5545"/>
              </a:lnSpc>
            </a:pPr>
            <a:endParaRPr lang="en-US" sz="3961">
              <a:solidFill>
                <a:srgbClr val="2A2E3A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FE26FE-5315-B058-653D-8E1F8409E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0500"/>
            <a:ext cx="17678400" cy="98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3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08998" y="1690592"/>
            <a:ext cx="1528939" cy="1528939"/>
          </a:xfrm>
          <a:custGeom>
            <a:avLst/>
            <a:gdLst/>
            <a:ahLst/>
            <a:cxnLst/>
            <a:rect l="l" t="t" r="r" b="b"/>
            <a:pathLst>
              <a:path w="1528939" h="1528939">
                <a:moveTo>
                  <a:pt x="0" y="0"/>
                </a:moveTo>
                <a:lnTo>
                  <a:pt x="1528939" y="0"/>
                </a:lnTo>
                <a:lnTo>
                  <a:pt x="1528939" y="1528939"/>
                </a:lnTo>
                <a:lnTo>
                  <a:pt x="0" y="15289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62670" y="6027670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0"/>
            <a:ext cx="9411059" cy="10287000"/>
            <a:chOff x="0" y="0"/>
            <a:chExt cx="247863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78633" cy="2709333"/>
            </a:xfrm>
            <a:custGeom>
              <a:avLst/>
              <a:gdLst/>
              <a:ahLst/>
              <a:cxnLst/>
              <a:rect l="l" t="t" r="r" b="b"/>
              <a:pathLst>
                <a:path w="2478633" h="27093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32093" y="1932672"/>
            <a:ext cx="6746873" cy="5507355"/>
            <a:chOff x="0" y="0"/>
            <a:chExt cx="8995831" cy="7343140"/>
          </a:xfrm>
        </p:grpSpPr>
        <p:sp>
          <p:nvSpPr>
            <p:cNvPr id="8" name="TextBox 8"/>
            <p:cNvSpPr txBox="1"/>
            <p:nvPr/>
          </p:nvSpPr>
          <p:spPr>
            <a:xfrm>
              <a:off x="0" y="-76200"/>
              <a:ext cx="8995831" cy="3031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sz="6999" b="1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Progress Since Last Review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638338"/>
              <a:ext cx="7058405" cy="3704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Sinc</a:t>
              </a:r>
              <a:r>
                <a:rPr lang="en-US" sz="31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e our last review, we moved from a largely designed system to a functionally working application: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084264" y="1056430"/>
            <a:ext cx="8077029" cy="7660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2097" lvl="1" indent="-336048" algn="l">
              <a:lnSpc>
                <a:spcPts val="4358"/>
              </a:lnSpc>
              <a:spcBef>
                <a:spcPct val="0"/>
              </a:spcBef>
              <a:buFont typeface="Arial"/>
              <a:buChar char="•"/>
            </a:pPr>
            <a:r>
              <a:rPr lang="en-US" sz="3113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Full authenti</a:t>
            </a:r>
            <a:r>
              <a:rPr lang="en-US" sz="3113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cation system with OTP verification</a:t>
            </a:r>
          </a:p>
          <a:p>
            <a:pPr marL="672097" lvl="1" indent="-336048" algn="l">
              <a:lnSpc>
                <a:spcPts val="4358"/>
              </a:lnSpc>
              <a:spcBef>
                <a:spcPct val="0"/>
              </a:spcBef>
              <a:buFont typeface="Arial"/>
              <a:buChar char="•"/>
            </a:pPr>
            <a:r>
              <a:rPr lang="en-US" sz="3113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Multi-profile family account system (JioHotstar-style)</a:t>
            </a:r>
          </a:p>
          <a:p>
            <a:pPr marL="672097" lvl="1" indent="-336048" algn="l">
              <a:lnSpc>
                <a:spcPts val="4358"/>
              </a:lnSpc>
              <a:spcBef>
                <a:spcPct val="0"/>
              </a:spcBef>
              <a:buFont typeface="Arial"/>
              <a:buChar char="•"/>
            </a:pPr>
            <a:r>
              <a:rPr lang="en-US" sz="3113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All 10 modules connected to a live MongoDB Atlas database</a:t>
            </a:r>
          </a:p>
          <a:p>
            <a:pPr marL="672097" lvl="1" indent="-336048" algn="l">
              <a:lnSpc>
                <a:spcPts val="4358"/>
              </a:lnSpc>
              <a:spcBef>
                <a:spcPct val="0"/>
              </a:spcBef>
              <a:buFont typeface="Arial"/>
              <a:buChar char="•"/>
            </a:pPr>
            <a:r>
              <a:rPr lang="en-US" sz="3113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OCR-based AI scanning </a:t>
            </a:r>
          </a:p>
          <a:p>
            <a:pPr marL="672097" lvl="1" indent="-336048" algn="l">
              <a:lnSpc>
                <a:spcPts val="4358"/>
              </a:lnSpc>
              <a:spcBef>
                <a:spcPct val="0"/>
              </a:spcBef>
              <a:buFont typeface="Arial"/>
              <a:buChar char="•"/>
            </a:pPr>
            <a:r>
              <a:rPr lang="en-US" sz="3113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In-app and browser push notification system</a:t>
            </a:r>
          </a:p>
          <a:p>
            <a:pPr marL="672097" lvl="1" indent="-336048" algn="l">
              <a:lnSpc>
                <a:spcPts val="4358"/>
              </a:lnSpc>
              <a:spcBef>
                <a:spcPct val="0"/>
              </a:spcBef>
              <a:buFont typeface="Arial"/>
              <a:buChar char="•"/>
            </a:pPr>
            <a:r>
              <a:rPr lang="en-US" sz="3113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User-configurable reminder timing per item</a:t>
            </a:r>
          </a:p>
          <a:p>
            <a:pPr marL="672097" lvl="1" indent="-336048" algn="l">
              <a:lnSpc>
                <a:spcPts val="4358"/>
              </a:lnSpc>
              <a:spcBef>
                <a:spcPct val="0"/>
              </a:spcBef>
              <a:buFont typeface="Arial"/>
              <a:buChar char="•"/>
            </a:pPr>
            <a:r>
              <a:rPr lang="en-US" sz="3113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AI Assistant answering from real account data</a:t>
            </a:r>
          </a:p>
          <a:p>
            <a:pPr marL="0" lvl="0" indent="0" algn="l">
              <a:lnSpc>
                <a:spcPts val="4358"/>
              </a:lnSpc>
              <a:spcBef>
                <a:spcPct val="0"/>
              </a:spcBef>
            </a:pPr>
            <a:endParaRPr lang="en-US" sz="3113" u="none">
              <a:solidFill>
                <a:srgbClr val="2A2E3A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6B76-7EB6-841F-5FDC-3EB48F39A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7602200" cy="1143000"/>
          </a:xfrm>
        </p:spPr>
        <p:txBody>
          <a:bodyPr/>
          <a:lstStyle/>
          <a:p>
            <a:r>
              <a:rPr lang="en-IN" sz="6600" b="1" dirty="0"/>
              <a:t>OCR</a:t>
            </a:r>
            <a:r>
              <a:rPr lang="en-IN" b="1" dirty="0"/>
              <a:t> </a:t>
            </a:r>
            <a:r>
              <a:rPr lang="en-IN" sz="6000" b="1" dirty="0"/>
              <a:t>Scanning</a:t>
            </a:r>
            <a:r>
              <a:rPr lang="en-IN" b="1" dirty="0"/>
              <a:t>: What It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4BC71-4ABF-1C4A-A309-CA7BA4F0A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7602200" cy="8412162"/>
          </a:xfrm>
        </p:spPr>
        <p:txBody>
          <a:bodyPr>
            <a:normAutofit/>
          </a:bodyPr>
          <a:lstStyle/>
          <a:p>
            <a:r>
              <a:rPr lang="en-IN" sz="4400" b="1" dirty="0"/>
              <a:t>ExpiryIQ lets users scan a medicine strip or document instead of manually typing in details.</a:t>
            </a:r>
            <a:r>
              <a:rPr lang="en-IN" sz="4400" dirty="0"/>
              <a:t> The system automatically extracts the item name, manufacturing date, and expiry date from the photo — reducing manual data entry, which is the one reason tracking apps get abandoned.</a:t>
            </a:r>
          </a:p>
          <a:p>
            <a:pPr marL="0" indent="0">
              <a:buNone/>
            </a:pPr>
            <a:endParaRPr lang="en-IN" sz="3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E7584AC9-8FEF-381C-AFF9-867E8283D746}"/>
              </a:ext>
            </a:extLst>
          </p:cNvPr>
          <p:cNvSpPr/>
          <p:nvPr/>
        </p:nvSpPr>
        <p:spPr>
          <a:xfrm>
            <a:off x="0" y="29497"/>
            <a:ext cx="18288000" cy="1455738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84715"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BB722E-2E41-92D3-1B4A-2FD677A1DB95}"/>
              </a:ext>
            </a:extLst>
          </p:cNvPr>
          <p:cNvSpPr txBox="1"/>
          <p:nvPr/>
        </p:nvSpPr>
        <p:spPr>
          <a:xfrm>
            <a:off x="3962400" y="222316"/>
            <a:ext cx="11250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b="1" dirty="0">
                <a:solidFill>
                  <a:schemeClr val="bg1"/>
                </a:solidFill>
                <a:latin typeface="Klein Bold" panose="020B0604020202020204" charset="0"/>
              </a:rPr>
              <a:t>OCR</a:t>
            </a:r>
            <a:r>
              <a:rPr lang="en-IN" sz="7200" b="1" dirty="0">
                <a:solidFill>
                  <a:schemeClr val="bg1"/>
                </a:solidFill>
              </a:rPr>
              <a:t> Scanning: What It Does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0AA211-FFE4-A689-0063-C60AD233F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533900"/>
            <a:ext cx="16789211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94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01846-FF4B-F8DE-B3D5-E981BC74A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7297400" cy="1143000"/>
          </a:xfrm>
        </p:spPr>
        <p:txBody>
          <a:bodyPr>
            <a:normAutofit/>
          </a:bodyPr>
          <a:lstStyle/>
          <a:p>
            <a:r>
              <a:rPr lang="en-US" sz="6000" b="1" dirty="0"/>
              <a:t>Steps</a:t>
            </a:r>
            <a:endParaRPr lang="en-IN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B7BF8-7DC0-A51C-B54B-D78C1A9D5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7373600" cy="84121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User uploads/captures a photo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Image sent to Python microservice (Flask)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Image converted to grayscale (Pillow) — improves OCR accuracy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Tesseract OCR extracts raw text from the image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(e.g., "PARACETAMOL 500MG  MFG: 03/2025  EXP: 03/2027")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5. Raw text sent to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Groq's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LLaMA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model with a structured prompt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6. AI returns clean JSON: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{"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item_name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": "Paracetamol 500mg", "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mfg_date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": "2025-03-01", "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expiry_date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": "2027-03-01"}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7. Data pre-fills the Add Item form — user reviews &amp; confirms before saving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8. Saved to MongoDB, treated identically to manually entered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9099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28700" y="2865980"/>
            <a:ext cx="4555040" cy="4555040"/>
          </a:xfrm>
          <a:custGeom>
            <a:avLst/>
            <a:gdLst/>
            <a:ahLst/>
            <a:cxnLst/>
            <a:rect l="l" t="t" r="r" b="b"/>
            <a:pathLst>
              <a:path w="4555040" h="4555040">
                <a:moveTo>
                  <a:pt x="0" y="0"/>
                </a:moveTo>
                <a:lnTo>
                  <a:pt x="4555040" y="0"/>
                </a:lnTo>
                <a:lnTo>
                  <a:pt x="4555040" y="4555040"/>
                </a:lnTo>
                <a:lnTo>
                  <a:pt x="0" y="455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9510" y="-76200"/>
            <a:ext cx="13964201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 dirty="0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Notification System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87639" y="1235150"/>
            <a:ext cx="11896878" cy="875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2915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In-App Notifications</a:t>
            </a:r>
          </a:p>
          <a:p>
            <a:pPr algn="just">
              <a:lnSpc>
                <a:spcPts val="4082"/>
              </a:lnSpc>
            </a:pPr>
            <a:r>
              <a:rPr lang="en-US" sz="2915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 notification bell in the dashboard shows real-time alerts with an unread count, pulled from a backend-scheduled daily check across all modules.</a:t>
            </a:r>
          </a:p>
          <a:p>
            <a:pPr algn="just">
              <a:lnSpc>
                <a:spcPts val="4082"/>
              </a:lnSpc>
            </a:pPr>
            <a:r>
              <a:rPr lang="en-US" sz="2915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Browser Push Notifications</a:t>
            </a:r>
          </a:p>
          <a:p>
            <a:pPr algn="just">
              <a:lnSpc>
                <a:spcPts val="4082"/>
              </a:lnSpc>
            </a:pPr>
            <a:r>
              <a:rPr lang="en-US" sz="2915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Using the Web Push API, users receive real OS-level notifications even when the ExpiryIQ tab or browser is closed — powered by a Service Worker running in the background and VAPID-based secure push authentication.</a:t>
            </a:r>
          </a:p>
          <a:p>
            <a:pPr algn="just">
              <a:lnSpc>
                <a:spcPts val="4082"/>
              </a:lnSpc>
            </a:pPr>
            <a:r>
              <a:rPr lang="en-US" sz="2915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User-Configurable Reminder Timing</a:t>
            </a:r>
          </a:p>
          <a:p>
            <a:pPr algn="just">
              <a:lnSpc>
                <a:spcPts val="4082"/>
              </a:lnSpc>
            </a:pPr>
            <a:r>
              <a:rPr lang="en-US" sz="2915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Instead of a fixed "remind me 7 days before" rule for everyone, users can now set their own preferred reminder window per item — e.g., "remind me 3 days before this bill is due" or "remind me 30 days before this policy renews." The system respects each user's chosen timing rather than a one-size-fits-all default.</a:t>
            </a:r>
          </a:p>
          <a:p>
            <a:pPr algn="just">
              <a:lnSpc>
                <a:spcPts val="4082"/>
              </a:lnSpc>
            </a:pPr>
            <a:endParaRPr lang="en-US" sz="2915" b="1">
              <a:solidFill>
                <a:srgbClr val="2A2E3A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082"/>
              </a:lnSpc>
            </a:pPr>
            <a:endParaRPr lang="en-US" sz="2915" b="1">
              <a:solidFill>
                <a:srgbClr val="2A2E3A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89533"/>
            <a:ext cx="18288000" cy="3608707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8471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031894" y="1800419"/>
            <a:ext cx="10224213" cy="7790466"/>
          </a:xfrm>
          <a:custGeom>
            <a:avLst/>
            <a:gdLst/>
            <a:ahLst/>
            <a:cxnLst/>
            <a:rect l="l" t="t" r="r" b="b"/>
            <a:pathLst>
              <a:path w="10224213" h="7790466">
                <a:moveTo>
                  <a:pt x="0" y="0"/>
                </a:moveTo>
                <a:lnTo>
                  <a:pt x="10224212" y="0"/>
                </a:lnTo>
                <a:lnTo>
                  <a:pt x="10224212" y="7790466"/>
                </a:lnTo>
                <a:lnTo>
                  <a:pt x="0" y="7790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62" b="-96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93448" y="54059"/>
            <a:ext cx="15665852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 dirty="0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How Notifications Actually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76489" y="368829"/>
            <a:ext cx="13335021" cy="1186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3"/>
              </a:lnSpc>
            </a:pPr>
            <a:r>
              <a:rPr lang="en-US" sz="6916">
                <a:solidFill>
                  <a:srgbClr val="2A2E3A"/>
                </a:solidFill>
                <a:latin typeface="Anton"/>
                <a:ea typeface="Anton"/>
                <a:cs typeface="Anton"/>
                <a:sym typeface="Anton"/>
              </a:rPr>
              <a:t>OTP-Based Authentication 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04030" y="1841045"/>
            <a:ext cx="15655270" cy="796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8"/>
              </a:lnSpc>
            </a:pPr>
            <a:r>
              <a:rPr lang="en-US" sz="3441" b="1" dirty="0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Account creation security:</a:t>
            </a:r>
          </a:p>
          <a:p>
            <a:pPr marL="743047" lvl="1" indent="-371523" algn="l">
              <a:lnSpc>
                <a:spcPts val="4818"/>
              </a:lnSpc>
              <a:buFont typeface="Arial"/>
              <a:buChar char="•"/>
            </a:pPr>
            <a:r>
              <a:rPr lang="en-US" sz="3441" b="1" dirty="0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When a user registers a new family member login, an OTP is sent to verify.</a:t>
            </a:r>
          </a:p>
          <a:p>
            <a:pPr marL="743047" lvl="1" indent="-371523" algn="l">
              <a:lnSpc>
                <a:spcPts val="4818"/>
              </a:lnSpc>
              <a:buFont typeface="Arial"/>
              <a:buChar char="•"/>
            </a:pPr>
            <a:r>
              <a:rPr lang="en-US" sz="3441" b="1" dirty="0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confirms the account owner has genuine access to the registered family member, preventing fake or mistyped-member signups</a:t>
            </a:r>
          </a:p>
          <a:p>
            <a:pPr algn="l">
              <a:lnSpc>
                <a:spcPts val="4818"/>
              </a:lnSpc>
            </a:pPr>
            <a:r>
              <a:rPr lang="en-US" sz="3441" b="1" dirty="0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Family member addition security:</a:t>
            </a:r>
          </a:p>
          <a:p>
            <a:pPr marL="743047" lvl="1" indent="-371523" algn="l">
              <a:lnSpc>
                <a:spcPts val="4818"/>
              </a:lnSpc>
              <a:buFont typeface="Arial"/>
              <a:buChar char="•"/>
            </a:pPr>
            <a:r>
              <a:rPr lang="en-US" sz="3441" b="1" dirty="0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When a new family member profile is added under an existing account, an OTP is also sent — to the account owner, not the new member</a:t>
            </a:r>
          </a:p>
          <a:p>
            <a:pPr marL="743047" lvl="1" indent="-371523" algn="l">
              <a:lnSpc>
                <a:spcPts val="4818"/>
              </a:lnSpc>
              <a:buFont typeface="Arial"/>
              <a:buChar char="•"/>
            </a:pPr>
            <a:r>
              <a:rPr lang="en-US" sz="3441" b="1" dirty="0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ensures only the verified account owner can authorize new profiles being created under their family account, preventing unauthorized additions</a:t>
            </a:r>
          </a:p>
          <a:p>
            <a:pPr algn="l">
              <a:lnSpc>
                <a:spcPts val="4818"/>
              </a:lnSpc>
            </a:pPr>
            <a:endParaRPr lang="en-US" sz="3441" b="1" dirty="0">
              <a:solidFill>
                <a:srgbClr val="2A2E3A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340491"/>
            <a:chOff x="0" y="0"/>
            <a:chExt cx="4816593" cy="6164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16426"/>
            </a:xfrm>
            <a:custGeom>
              <a:avLst/>
              <a:gdLst/>
              <a:ahLst/>
              <a:cxnLst/>
              <a:rect l="l" t="t" r="r" b="b"/>
              <a:pathLst>
                <a:path w="4816592" h="616426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683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2340491"/>
            <a:chOff x="0" y="0"/>
            <a:chExt cx="24384000" cy="3120655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45734" b="45734"/>
            <a:stretch>
              <a:fillRect/>
            </a:stretch>
          </p:blipFill>
          <p:spPr>
            <a:xfrm>
              <a:off x="0" y="0"/>
              <a:ext cx="24384000" cy="3120655"/>
            </a:xfrm>
            <a:prstGeom prst="rect">
              <a:avLst/>
            </a:prstGeom>
          </p:spPr>
        </p:pic>
      </p:grpSp>
      <p:sp>
        <p:nvSpPr>
          <p:cNvPr id="8" name="TextBox 8"/>
          <p:cNvSpPr txBox="1"/>
          <p:nvPr/>
        </p:nvSpPr>
        <p:spPr>
          <a:xfrm>
            <a:off x="1394656" y="579954"/>
            <a:ext cx="15664226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Technology Used for Notifications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D66E4C-85FC-43E8-8EE0-6C3BF7E78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2562921"/>
            <a:ext cx="13030200" cy="76055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342680" y="426693"/>
            <a:ext cx="8321119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Challenges Faced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9582" y="2143090"/>
            <a:ext cx="13584498" cy="7281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4025" lvl="1" indent="-412012" algn="l">
              <a:lnSpc>
                <a:spcPts val="5343"/>
              </a:lnSpc>
              <a:buFont typeface="Arial"/>
              <a:buChar char="•"/>
            </a:pPr>
            <a:r>
              <a:rPr lang="en-US" sz="3816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Implementing OTP verification correctly for two different flows (account creation vs. family member addition) without confusing which email receives the code</a:t>
            </a:r>
          </a:p>
          <a:p>
            <a:pPr marL="824025" lvl="1" indent="-412012" algn="l">
              <a:lnSpc>
                <a:spcPts val="5343"/>
              </a:lnSpc>
              <a:buFont typeface="Arial"/>
              <a:buChar char="•"/>
            </a:pPr>
            <a:r>
              <a:rPr lang="en-US" sz="3816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Configuring the Service Worker and VAPID push authentication correctly — required careful setup of file paths, permissions, and key generation</a:t>
            </a:r>
          </a:p>
          <a:p>
            <a:pPr marL="824025" lvl="1" indent="-412012" algn="l">
              <a:lnSpc>
                <a:spcPts val="5343"/>
              </a:lnSpc>
              <a:buFont typeface="Arial"/>
              <a:buChar char="•"/>
            </a:pPr>
            <a:r>
              <a:rPr lang="en-US" sz="3816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Generalizing the notification scheduler to respect each user's own custom reminder timing per item, rather than one fixed rule for everyone.</a:t>
            </a:r>
          </a:p>
          <a:p>
            <a:pPr algn="l">
              <a:lnSpc>
                <a:spcPts val="5343"/>
              </a:lnSpc>
            </a:pPr>
            <a:endParaRPr lang="en-US" sz="3816" b="1">
              <a:solidFill>
                <a:srgbClr val="2A2E3A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051389" cy="10295868"/>
            <a:chOff x="0" y="0"/>
            <a:chExt cx="1857156" cy="2711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57156" cy="2711669"/>
            </a:xfrm>
            <a:custGeom>
              <a:avLst/>
              <a:gdLst/>
              <a:ahLst/>
              <a:cxnLst/>
              <a:rect l="l" t="t" r="r" b="b"/>
              <a:pathLst>
                <a:path w="1857156" h="2711669">
                  <a:moveTo>
                    <a:pt x="0" y="0"/>
                  </a:moveTo>
                  <a:lnTo>
                    <a:pt x="1857156" y="0"/>
                  </a:lnTo>
                  <a:lnTo>
                    <a:pt x="1857156" y="2711669"/>
                  </a:lnTo>
                  <a:lnTo>
                    <a:pt x="0" y="271166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57156" cy="2749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76878"/>
            <a:ext cx="7599177" cy="102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01"/>
              </a:lnSpc>
            </a:pPr>
            <a:r>
              <a:rPr lang="en-US" sz="6308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Current Status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7187" y="2058035"/>
            <a:ext cx="14173739" cy="634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5264" lvl="1" indent="-432632" algn="l">
              <a:lnSpc>
                <a:spcPts val="5610"/>
              </a:lnSpc>
              <a:buFont typeface="Arial"/>
              <a:buChar char="•"/>
            </a:pPr>
            <a:r>
              <a:rPr lang="en-US" sz="4007" b="1">
                <a:solidFill>
                  <a:srgbClr val="15396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Authentication, OTP, and multi-profile system — complete</a:t>
            </a:r>
          </a:p>
          <a:p>
            <a:pPr marL="865264" lvl="1" indent="-432632" algn="l">
              <a:lnSpc>
                <a:spcPts val="5610"/>
              </a:lnSpc>
              <a:buFont typeface="Arial"/>
              <a:buChar char="•"/>
            </a:pPr>
            <a:r>
              <a:rPr lang="en-US" sz="4007" b="1">
                <a:solidFill>
                  <a:srgbClr val="15396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All 10 modules connected to live data</a:t>
            </a:r>
          </a:p>
          <a:p>
            <a:pPr marL="865264" lvl="1" indent="-432632" algn="l">
              <a:lnSpc>
                <a:spcPts val="5610"/>
              </a:lnSpc>
              <a:buFont typeface="Arial"/>
              <a:buChar char="•"/>
            </a:pPr>
            <a:r>
              <a:rPr lang="en-US" sz="4007" b="1">
                <a:solidFill>
                  <a:srgbClr val="15396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OCR AI scanning — working on MediTrack and DocuVault</a:t>
            </a:r>
          </a:p>
          <a:p>
            <a:pPr marL="865264" lvl="1" indent="-432632" algn="l">
              <a:lnSpc>
                <a:spcPts val="5610"/>
              </a:lnSpc>
              <a:buFont typeface="Arial"/>
              <a:buChar char="•"/>
            </a:pPr>
            <a:r>
              <a:rPr lang="en-US" sz="4007" b="1">
                <a:solidFill>
                  <a:srgbClr val="15396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Notification system (in-app + browser push + configurable timing) — complete</a:t>
            </a:r>
          </a:p>
          <a:p>
            <a:pPr algn="l">
              <a:lnSpc>
                <a:spcPts val="5610"/>
              </a:lnSpc>
            </a:pPr>
            <a:endParaRPr lang="en-US" sz="4007" b="1">
              <a:solidFill>
                <a:srgbClr val="153969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610"/>
              </a:lnSpc>
            </a:pPr>
            <a:endParaRPr lang="en-US" sz="4007" b="1">
              <a:solidFill>
                <a:srgbClr val="153969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80289" y="-2641599"/>
            <a:ext cx="18288000" cy="4157535"/>
            <a:chOff x="0" y="0"/>
            <a:chExt cx="4816593" cy="1094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094988"/>
            </a:xfrm>
            <a:custGeom>
              <a:avLst/>
              <a:gdLst/>
              <a:ahLst/>
              <a:cxnLst/>
              <a:rect l="l" t="t" r="r" b="b"/>
              <a:pathLst>
                <a:path w="4816592" h="1094988">
                  <a:moveTo>
                    <a:pt x="0" y="0"/>
                  </a:moveTo>
                  <a:lnTo>
                    <a:pt x="4816592" y="0"/>
                  </a:lnTo>
                  <a:lnTo>
                    <a:pt x="4816592" y="1094988"/>
                  </a:lnTo>
                  <a:lnTo>
                    <a:pt x="0" y="109498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13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905652" y="63734"/>
            <a:ext cx="11516118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Next Steps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7264" y="2388589"/>
            <a:ext cx="16682036" cy="6834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3349" lvl="1" indent="-346675" algn="l">
              <a:lnSpc>
                <a:spcPts val="4496"/>
              </a:lnSpc>
              <a:buFont typeface="Arial"/>
              <a:buChar char="•"/>
            </a:pPr>
            <a:r>
              <a:rPr lang="en-US" sz="3211" b="1">
                <a:solidFill>
                  <a:srgbClr val="153969"/>
                </a:solidFill>
                <a:latin typeface="Helios Bold"/>
                <a:ea typeface="Helios Bold"/>
                <a:cs typeface="Helios Bold"/>
                <a:sym typeface="Helios Bold"/>
              </a:rPr>
              <a:t>1. Direct Purchase Integration</a:t>
            </a:r>
          </a:p>
          <a:p>
            <a:pPr marL="693349" lvl="1" indent="-346675" algn="l">
              <a:lnSpc>
                <a:spcPts val="4496"/>
              </a:lnSpc>
              <a:buFont typeface="Arial"/>
              <a:buChar char="•"/>
            </a:pPr>
            <a:r>
              <a:rPr lang="en-US" sz="3211" b="1">
                <a:solidFill>
                  <a:srgbClr val="153969"/>
                </a:solidFill>
                <a:latin typeface="Helios Bold"/>
                <a:ea typeface="Helios Bold"/>
                <a:cs typeface="Helios Bold"/>
                <a:sym typeface="Helios Bold"/>
              </a:rPr>
              <a:t>Add Amazon/Flipkart buy links to medicines and pantry items</a:t>
            </a:r>
          </a:p>
          <a:p>
            <a:pPr marL="693349" lvl="1" indent="-346675" algn="l">
              <a:lnSpc>
                <a:spcPts val="4496"/>
              </a:lnSpc>
              <a:buFont typeface="Arial"/>
              <a:buChar char="•"/>
            </a:pPr>
            <a:r>
              <a:rPr lang="en-US" sz="3211" b="1">
                <a:solidFill>
                  <a:srgbClr val="153969"/>
                </a:solidFill>
                <a:latin typeface="Helios Bold"/>
                <a:ea typeface="Helios Bold"/>
                <a:cs typeface="Helios Bold"/>
                <a:sym typeface="Helios Bold"/>
              </a:rPr>
              <a:t>When stock is low or close to expiry, user can click a "Reorder Now" button that opens the product directly on the retailer's site</a:t>
            </a:r>
          </a:p>
          <a:p>
            <a:pPr marL="693349" lvl="1" indent="-346675" algn="l">
              <a:lnSpc>
                <a:spcPts val="4496"/>
              </a:lnSpc>
              <a:buFont typeface="Arial"/>
              <a:buChar char="•"/>
            </a:pPr>
            <a:r>
              <a:rPr lang="en-US" sz="3211" b="1">
                <a:solidFill>
                  <a:srgbClr val="153969"/>
                </a:solidFill>
                <a:latin typeface="Helios Bold"/>
                <a:ea typeface="Helios Bold"/>
                <a:cs typeface="Helios Bold"/>
                <a:sym typeface="Helios Bold"/>
              </a:rPr>
              <a:t>Removes the manual step of searching for the same item again — closes the loop from "alert" to "action"</a:t>
            </a:r>
          </a:p>
          <a:p>
            <a:pPr marL="693349" lvl="1" indent="-346675" algn="l">
              <a:lnSpc>
                <a:spcPts val="4496"/>
              </a:lnSpc>
              <a:buFont typeface="Arial"/>
              <a:buChar char="•"/>
            </a:pPr>
            <a:r>
              <a:rPr lang="en-US" sz="3211" b="1">
                <a:solidFill>
                  <a:srgbClr val="153969"/>
                </a:solidFill>
                <a:latin typeface="Helios Bold"/>
                <a:ea typeface="Helios Bold"/>
                <a:cs typeface="Helios Bold"/>
                <a:sym typeface="Helios Bold"/>
              </a:rPr>
              <a:t>2. Spending Analytics Dashboard</a:t>
            </a:r>
          </a:p>
          <a:p>
            <a:pPr marL="693349" lvl="1" indent="-346675" algn="l">
              <a:lnSpc>
                <a:spcPts val="4496"/>
              </a:lnSpc>
              <a:buFont typeface="Arial"/>
              <a:buChar char="•"/>
            </a:pPr>
            <a:r>
              <a:rPr lang="en-US" sz="3211" b="1">
                <a:solidFill>
                  <a:srgbClr val="153969"/>
                </a:solidFill>
                <a:latin typeface="Helios Bold"/>
                <a:ea typeface="Helios Bold"/>
                <a:cs typeface="Helios Bold"/>
                <a:sym typeface="Helios Bold"/>
              </a:rPr>
              <a:t>Visual graphs showing total money spent across the household</a:t>
            </a:r>
          </a:p>
          <a:p>
            <a:pPr marL="693349" lvl="1" indent="-346675" algn="l">
              <a:lnSpc>
                <a:spcPts val="4496"/>
              </a:lnSpc>
              <a:buFont typeface="Arial"/>
              <a:buChar char="•"/>
            </a:pPr>
            <a:r>
              <a:rPr lang="en-US" sz="3211" b="1">
                <a:solidFill>
                  <a:srgbClr val="153969"/>
                </a:solidFill>
                <a:latin typeface="Helios Bold"/>
                <a:ea typeface="Helios Bold"/>
                <a:cs typeface="Helios Bold"/>
                <a:sym typeface="Helios Bold"/>
              </a:rPr>
              <a:t>Breakdown by module — medicines, bills, insurance premiums, pantry restocking — so users can see where most of their spending goes</a:t>
            </a:r>
          </a:p>
          <a:p>
            <a:pPr marL="693349" lvl="1" indent="-346675" algn="l">
              <a:lnSpc>
                <a:spcPts val="4496"/>
              </a:lnSpc>
              <a:buFont typeface="Arial"/>
              <a:buChar char="•"/>
            </a:pPr>
            <a:r>
              <a:rPr lang="en-US" sz="3211" b="1">
                <a:solidFill>
                  <a:srgbClr val="153969"/>
                </a:solidFill>
                <a:latin typeface="Helios Bold"/>
                <a:ea typeface="Helios Bold"/>
                <a:cs typeface="Helios Bold"/>
                <a:sym typeface="Helios Bold"/>
              </a:rPr>
              <a:t>Helps families track and plan monthly household expenses, not just track expiry dates.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9104" y="-2597022"/>
            <a:ext cx="18288000" cy="4157535"/>
            <a:chOff x="0" y="0"/>
            <a:chExt cx="4816593" cy="1094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094988"/>
            </a:xfrm>
            <a:custGeom>
              <a:avLst/>
              <a:gdLst/>
              <a:ahLst/>
              <a:cxnLst/>
              <a:rect l="l" t="t" r="r" b="b"/>
              <a:pathLst>
                <a:path w="4816592" h="1094988">
                  <a:moveTo>
                    <a:pt x="0" y="0"/>
                  </a:moveTo>
                  <a:lnTo>
                    <a:pt x="4816592" y="0"/>
                  </a:lnTo>
                  <a:lnTo>
                    <a:pt x="4816592" y="1094988"/>
                  </a:lnTo>
                  <a:lnTo>
                    <a:pt x="0" y="109498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13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49163" y="89715"/>
            <a:ext cx="13991465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2464" y="2843511"/>
            <a:ext cx="16020970" cy="452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7"/>
              </a:lnSpc>
              <a:spcBef>
                <a:spcPct val="0"/>
              </a:spcBef>
            </a:pPr>
            <a:r>
              <a:rPr lang="en-US" sz="321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ExpiryIQ transfo</a:t>
            </a:r>
            <a:r>
              <a:rPr lang="en-US" sz="321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rms household management from reactive and fragmented into proactive and unified.</a:t>
            </a:r>
          </a:p>
          <a:p>
            <a:pPr marL="0" lvl="0" indent="0" algn="just">
              <a:lnSpc>
                <a:spcPts val="4507"/>
              </a:lnSpc>
              <a:spcBef>
                <a:spcPct val="0"/>
              </a:spcBef>
            </a:pPr>
            <a:r>
              <a:rPr lang="en-US" sz="321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By combining automation, prediction, and cultural relevance, it addresses a real, everyday problem faced by millions of Indian families — one that no existing application has fully solved.</a:t>
            </a:r>
          </a:p>
          <a:p>
            <a:pPr marL="0" lvl="0" indent="0" algn="just">
              <a:lnSpc>
                <a:spcPts val="4507"/>
              </a:lnSpc>
              <a:spcBef>
                <a:spcPct val="0"/>
              </a:spcBef>
            </a:pPr>
            <a:r>
              <a:rPr lang="en-US" sz="321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"Because every household deadline deserves the same intelligence as a work deadline."</a:t>
            </a:r>
          </a:p>
          <a:p>
            <a:pPr marL="0" lvl="0" indent="0" algn="just">
              <a:lnSpc>
                <a:spcPts val="4507"/>
              </a:lnSpc>
              <a:spcBef>
                <a:spcPct val="0"/>
              </a:spcBef>
            </a:pPr>
            <a:endParaRPr lang="en-US" sz="3219" u="none">
              <a:solidFill>
                <a:srgbClr val="2A2E3A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933</Words>
  <Application>Microsoft Office PowerPoint</Application>
  <PresentationFormat>Custom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Helios Bold</vt:lpstr>
      <vt:lpstr>Anton</vt:lpstr>
      <vt:lpstr>Arial</vt:lpstr>
      <vt:lpstr>Calibri</vt:lpstr>
      <vt:lpstr>Helios</vt:lpstr>
      <vt:lpstr>Klein Bold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OCR Scanning: What It Does</vt:lpstr>
      <vt:lpstr>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 Presentation</dc:title>
  <cp:lastModifiedBy>Prachi Rana</cp:lastModifiedBy>
  <cp:revision>5</cp:revision>
  <dcterms:created xsi:type="dcterms:W3CDTF">2006-08-16T00:00:00Z</dcterms:created>
  <dcterms:modified xsi:type="dcterms:W3CDTF">2026-10-11T09:41:51Z</dcterms:modified>
  <dc:identifier>DAGSWquQWnk</dc:identifier>
</cp:coreProperties>
</file>